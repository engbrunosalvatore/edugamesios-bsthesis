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no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19"/>
    <p:sldId id="257" r:id="rId20"/>
    <p:sldId id="258" r:id="rId21"/>
    <p:sldId id="259" r:id="rId22"/>
    <p:sldId id="260" r:id="rId23"/>
  </p:sldIdLst>
  <p:sldSz cx="18288000" cy="10287000"/>
  <p:notesSz cx="6858000" cy="9144000"/>
  <p:embeddedFontLst>
    <p:embeddedFont>
      <p:font typeface="Montserrat Classic" charset="1" panose="00000500000000000000"/>
      <p:regular r:id="rId6"/>
    </p:embeddedFont>
    <p:embeddedFont>
      <p:font typeface="Montserrat Classic Bold" charset="1" panose="00000800000000000000"/>
      <p:regular r:id="rId7"/>
    </p:embeddedFont>
    <p:embeddedFont>
      <p:font typeface="Libre Baskerville" charset="1" panose="02000000000000000000"/>
      <p:regular r:id="rId8"/>
    </p:embeddedFont>
    <p:embeddedFont>
      <p:font typeface="Libre Baskerville Bold" charset="1" panose="02000000000000000000"/>
      <p:regular r:id="rId9"/>
    </p:embeddedFont>
    <p:embeddedFont>
      <p:font typeface="Libre Baskerville Italics" charset="1" panose="02000000000000000000"/>
      <p:regular r:id="rId10"/>
    </p:embeddedFont>
    <p:embeddedFont>
      <p:font typeface="Arimo" charset="1" panose="020B0604020202020204"/>
      <p:regular r:id="rId11"/>
    </p:embeddedFont>
    <p:embeddedFont>
      <p:font typeface="Arimo Bold" charset="1" panose="020B0704020202020204"/>
      <p:regular r:id="rId12"/>
    </p:embeddedFont>
    <p:embeddedFont>
      <p:font typeface="Arimo Italics" charset="1" panose="020B0604020202090204"/>
      <p:regular r:id="rId13"/>
    </p:embeddedFont>
    <p:embeddedFont>
      <p:font typeface="Arimo Bold Italics" charset="1" panose="020B0704020202090204"/>
      <p:regular r:id="rId14"/>
    </p:embeddedFont>
    <p:embeddedFont>
      <p:font typeface="Noto Serif" charset="1" panose="02020600060500020200"/>
      <p:regular r:id="rId15"/>
    </p:embeddedFont>
    <p:embeddedFont>
      <p:font typeface="Noto Serif Bold" charset="1" panose="02020800060500020200"/>
      <p:regular r:id="rId16"/>
    </p:embeddedFont>
    <p:embeddedFont>
      <p:font typeface="Noto Serif Italics" charset="1" panose="02020600060500090200"/>
      <p:regular r:id="rId17"/>
    </p:embeddedFont>
    <p:embeddedFont>
      <p:font typeface="Noto Serif Bold Italics" charset="1" panose="0202080006050009020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no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slides/slide1.xml" Type="http://schemas.openxmlformats.org/officeDocument/2006/relationships/slide"/><Relationship Id="rId2" Target="presProps.xml" Type="http://schemas.openxmlformats.org/officeDocument/2006/relationships/presProps"/><Relationship Id="rId20" Target="slides/slide2.xml" Type="http://schemas.openxmlformats.org/officeDocument/2006/relationships/slide"/><Relationship Id="rId21" Target="slides/slide3.xml" Type="http://schemas.openxmlformats.org/officeDocument/2006/relationships/slide"/><Relationship Id="rId22" Target="slides/slide4.xml" Type="http://schemas.openxmlformats.org/officeDocument/2006/relationships/slide"/><Relationship Id="rId23" Target="slides/slide5.xml" Type="http://schemas.openxmlformats.org/officeDocument/2006/relationships/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fonts/font6.fntdata" Type="http://schemas.openxmlformats.org/officeDocument/2006/relationships/font"/><Relationship Id="rId7" Target="fonts/font7.fntdata" Type="http://schemas.openxmlformats.org/officeDocument/2006/relationships/font"/><Relationship Id="rId8" Target="fonts/font8.fntdata" Type="http://schemas.openxmlformats.org/officeDocument/2006/relationships/font"/><Relationship Id="rId9" Target="fonts/font9.fntdata" Type="http://schemas.openxmlformats.org/officeDocument/2006/relationships/font"/></Relationships>
</file>

<file path=ppt/slideLayouts/_rels/slideLayout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/Relationships>
</file>

<file path=ppt/slides/_rels/slide2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Relationship Id="rId6" Target="../media/image10.png" Type="http://schemas.openxmlformats.org/officeDocument/2006/relationships/image"/><Relationship Id="rId7" Target="../media/image11.svg" Type="http://schemas.openxmlformats.org/officeDocument/2006/relationships/image"/><Relationship Id="rId8" Target="../media/image12.png" Type="http://schemas.openxmlformats.org/officeDocument/2006/relationships/image"/></Relationships>
</file>

<file path=ppt/slides/_rels/slide3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7.png" Type="http://schemas.openxmlformats.org/officeDocument/2006/relationships/image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13.png" Type="http://schemas.openxmlformats.org/officeDocument/2006/relationships/image"/><Relationship Id="rId7" Target="../media/image14.png" Type="http://schemas.openxmlformats.org/officeDocument/2006/relationships/image"/><Relationship Id="rId8" Target="../media/image15.png" Type="http://schemas.openxmlformats.org/officeDocument/2006/relationships/image"/><Relationship Id="rId9" Target="../media/image16.png" Type="http://schemas.openxmlformats.org/officeDocument/2006/relationships/image"/></Relationships>
</file>

<file path=ppt/slides/_rels/slide4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2.png" Type="http://schemas.openxmlformats.org/officeDocument/2006/relationships/image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18.png" Type="http://schemas.openxmlformats.org/officeDocument/2006/relationships/image"/><Relationship Id="rId5" Target="../media/image19.svg" Type="http://schemas.openxmlformats.org/officeDocument/2006/relationships/image"/><Relationship Id="rId6" Target="../media/image1.png" Type="http://schemas.openxmlformats.org/officeDocument/2006/relationships/image"/><Relationship Id="rId7" Target="../media/image2.svg" Type="http://schemas.openxmlformats.org/officeDocument/2006/relationships/image"/><Relationship Id="rId8" Target="../media/image20.png" Type="http://schemas.openxmlformats.org/officeDocument/2006/relationships/image"/><Relationship Id="rId9" Target="../media/image21.png" Type="http://schemas.openxmlformats.org/officeDocument/2006/relationships/image"/></Relationships>
</file>

<file path=ppt/slides/_rels/slide5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3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111642">
            <a:off x="12598016" y="1234465"/>
            <a:ext cx="10443683" cy="8487866"/>
          </a:xfrm>
          <a:custGeom>
            <a:avLst/>
            <a:gdLst/>
            <a:ahLst/>
            <a:cxnLst/>
            <a:rect r="r" b="b" t="t" l="l"/>
            <a:pathLst>
              <a:path h="8487866" w="10443683">
                <a:moveTo>
                  <a:pt x="0" y="0"/>
                </a:moveTo>
                <a:lnTo>
                  <a:pt x="10443683" y="0"/>
                </a:lnTo>
                <a:lnTo>
                  <a:pt x="10443683" y="8487866"/>
                </a:lnTo>
                <a:lnTo>
                  <a:pt x="0" y="84878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318441" y="9258300"/>
            <a:ext cx="9727319" cy="3106962"/>
          </a:xfrm>
          <a:custGeom>
            <a:avLst/>
            <a:gdLst/>
            <a:ahLst/>
            <a:cxnLst/>
            <a:rect r="r" b="b" t="t" l="l"/>
            <a:pathLst>
              <a:path h="3106962" w="9727319">
                <a:moveTo>
                  <a:pt x="0" y="0"/>
                </a:moveTo>
                <a:lnTo>
                  <a:pt x="9727318" y="0"/>
                </a:lnTo>
                <a:lnTo>
                  <a:pt x="9727318" y="3106962"/>
                </a:lnTo>
                <a:lnTo>
                  <a:pt x="0" y="31069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41969" y="444746"/>
            <a:ext cx="3864333" cy="1900749"/>
          </a:xfrm>
          <a:custGeom>
            <a:avLst/>
            <a:gdLst/>
            <a:ahLst/>
            <a:cxnLst/>
            <a:rect r="r" b="b" t="t" l="l"/>
            <a:pathLst>
              <a:path h="1900749" w="3864333">
                <a:moveTo>
                  <a:pt x="0" y="0"/>
                </a:moveTo>
                <a:lnTo>
                  <a:pt x="3864333" y="0"/>
                </a:lnTo>
                <a:lnTo>
                  <a:pt x="3864333" y="1900749"/>
                </a:lnTo>
                <a:lnTo>
                  <a:pt x="0" y="190074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4129752"/>
            <a:ext cx="5143630" cy="7764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5840"/>
              </a:lnSpc>
            </a:pPr>
            <a:r>
              <a:rPr lang="en-US" sz="5899">
                <a:solidFill>
                  <a:srgbClr val="004AAD"/>
                </a:solidFill>
                <a:latin typeface="Montserrat Classic Bold"/>
              </a:rPr>
              <a:t>EDUGAMES: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5210175"/>
            <a:ext cx="11945874" cy="4309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3267"/>
              </a:lnSpc>
            </a:pPr>
            <a:r>
              <a:rPr lang="en-US" sz="3300">
                <a:solidFill>
                  <a:srgbClr val="2BB4D4"/>
                </a:solidFill>
                <a:latin typeface="Montserrat Classic Bold"/>
              </a:rPr>
              <a:t>APP DI APPRENDIMENTO INFANTILE INTERATTIVO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7498461"/>
            <a:ext cx="4851878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3499"/>
              </a:lnSpc>
            </a:pPr>
            <a:r>
              <a:rPr lang="en-US" sz="2499" spc="124">
                <a:solidFill>
                  <a:srgbClr val="2E2E2E"/>
                </a:solidFill>
                <a:latin typeface="Montserrat Classic Bold"/>
              </a:rPr>
              <a:t>RELATORE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7873111"/>
            <a:ext cx="4851878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3499"/>
              </a:lnSpc>
            </a:pPr>
            <a:r>
              <a:rPr lang="en-US" sz="2499" spc="124">
                <a:solidFill>
                  <a:srgbClr val="2E2E2E"/>
                </a:solidFill>
                <a:latin typeface="Montserrat Classic"/>
              </a:rPr>
              <a:t>Prof.essa Carmen De Maio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715393" y="7498461"/>
            <a:ext cx="2259181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3499"/>
              </a:lnSpc>
            </a:pPr>
            <a:r>
              <a:rPr lang="en-US" sz="2499" spc="124">
                <a:solidFill>
                  <a:srgbClr val="2E2E2E"/>
                </a:solidFill>
                <a:latin typeface="Montserrat Classic Bold"/>
              </a:rPr>
              <a:t>CANDIDATO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715393" y="7873111"/>
            <a:ext cx="3123401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3499"/>
              </a:lnSpc>
            </a:pPr>
            <a:r>
              <a:rPr lang="en-US" sz="2499" spc="124">
                <a:solidFill>
                  <a:srgbClr val="2E2E2E"/>
                </a:solidFill>
                <a:latin typeface="Montserrat Classic"/>
              </a:rPr>
              <a:t>Salvatore Bruno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715393" y="8247761"/>
            <a:ext cx="3123401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3499"/>
              </a:lnSpc>
            </a:pPr>
            <a:r>
              <a:rPr lang="en-US" sz="2499" spc="124">
                <a:solidFill>
                  <a:srgbClr val="2E2E2E"/>
                </a:solidFill>
                <a:latin typeface="Montserrat Classic"/>
              </a:rPr>
              <a:t>Mat. 0612705112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4696457" y="9210675"/>
            <a:ext cx="3123401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3499"/>
              </a:lnSpc>
            </a:pPr>
            <a:r>
              <a:rPr lang="en-US" sz="2499" spc="124">
                <a:solidFill>
                  <a:srgbClr val="2E2E2E"/>
                </a:solidFill>
                <a:latin typeface="Montserrat Classic"/>
              </a:rPr>
              <a:t>A.A. 2022/2023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750688" y="762141"/>
            <a:ext cx="8862825" cy="4759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2"/>
              </a:lnSpc>
              <a:spcBef>
                <a:spcPct val="0"/>
              </a:spcBef>
            </a:pPr>
            <a:r>
              <a:rPr lang="en-US" sz="2794" spc="139">
                <a:solidFill>
                  <a:srgbClr val="000000"/>
                </a:solidFill>
                <a:latin typeface="Montserrat Classic"/>
              </a:rPr>
              <a:t>UNIVERSITÀ DEGLI STUDI DI SALERNO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489560" y="1250027"/>
            <a:ext cx="9439457" cy="860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3499"/>
              </a:lnSpc>
              <a:spcBef>
                <a:spcPct val="0"/>
              </a:spcBef>
            </a:pPr>
            <a:r>
              <a:rPr lang="en-US" sz="2499" spc="124">
                <a:solidFill>
                  <a:srgbClr val="000000"/>
                </a:solidFill>
                <a:latin typeface="Montserrat Classic"/>
              </a:rPr>
              <a:t>DIPARTIMENTO DI INGEGNERIA DELL'INFORMAZIONE ED ELETTRICA E MATEMATICA APPLICATA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6664043">
            <a:off x="-3582629" y="-819185"/>
            <a:ext cx="11511802" cy="11511802"/>
          </a:xfrm>
          <a:custGeom>
            <a:avLst/>
            <a:gdLst/>
            <a:ahLst/>
            <a:cxnLst/>
            <a:rect r="r" b="b" t="t" l="l"/>
            <a:pathLst>
              <a:path h="11511802" w="11511802">
                <a:moveTo>
                  <a:pt x="0" y="0"/>
                </a:moveTo>
                <a:lnTo>
                  <a:pt x="11511802" y="0"/>
                </a:lnTo>
                <a:lnTo>
                  <a:pt x="11511802" y="11511802"/>
                </a:lnTo>
                <a:lnTo>
                  <a:pt x="0" y="115118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6284008">
            <a:off x="12761683" y="7147182"/>
            <a:ext cx="4789367" cy="7690070"/>
          </a:xfrm>
          <a:custGeom>
            <a:avLst/>
            <a:gdLst/>
            <a:ahLst/>
            <a:cxnLst/>
            <a:rect r="r" b="b" t="t" l="l"/>
            <a:pathLst>
              <a:path h="7690070" w="4789367">
                <a:moveTo>
                  <a:pt x="0" y="0"/>
                </a:moveTo>
                <a:lnTo>
                  <a:pt x="4789367" y="0"/>
                </a:lnTo>
                <a:lnTo>
                  <a:pt x="4789367" y="7690070"/>
                </a:lnTo>
                <a:lnTo>
                  <a:pt x="0" y="769007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1095375"/>
            <a:ext cx="10387994" cy="472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3599"/>
              </a:lnSpc>
            </a:pPr>
            <a:r>
              <a:rPr lang="en-US" sz="3599">
                <a:solidFill>
                  <a:srgbClr val="004AAD"/>
                </a:solidFill>
                <a:latin typeface="Montserrat Classic Bold"/>
              </a:rPr>
              <a:t>DESCRIZIONE DEL PROBLEMA AFFRONTATO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85573" y="2330043"/>
            <a:ext cx="11740156" cy="11254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4582"/>
              </a:lnSpc>
            </a:pPr>
            <a:r>
              <a:rPr lang="en-US" sz="2864">
                <a:solidFill>
                  <a:srgbClr val="2E2E2E"/>
                </a:solidFill>
                <a:latin typeface="Libre Baskerville Italics"/>
              </a:rPr>
              <a:t>Sarebbe possibile generare degli ambienti esterni a quelli scolastici che possano favorire l'apprendimento e l'interazione infantile?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1505868">
            <a:off x="9245019" y="-4340343"/>
            <a:ext cx="12580534" cy="8680686"/>
          </a:xfrm>
          <a:custGeom>
            <a:avLst/>
            <a:gdLst/>
            <a:ahLst/>
            <a:cxnLst/>
            <a:rect r="r" b="b" t="t" l="l"/>
            <a:pathLst>
              <a:path h="8680686" w="12580534">
                <a:moveTo>
                  <a:pt x="0" y="0"/>
                </a:moveTo>
                <a:lnTo>
                  <a:pt x="12580534" y="0"/>
                </a:lnTo>
                <a:lnTo>
                  <a:pt x="12580534" y="8680686"/>
                </a:lnTo>
                <a:lnTo>
                  <a:pt x="0" y="868068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50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8213770" y="5452885"/>
            <a:ext cx="9623919" cy="3100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4959"/>
              </a:lnSpc>
            </a:pPr>
            <a:r>
              <a:rPr lang="en-US" sz="3099">
                <a:solidFill>
                  <a:srgbClr val="000000"/>
                </a:solidFill>
                <a:latin typeface="Montserrat Classic"/>
              </a:rPr>
              <a:t>Il principale obiettivo di</a:t>
            </a:r>
            <a:r>
              <a:rPr lang="en-US" sz="3099">
                <a:solidFill>
                  <a:srgbClr val="004AAD"/>
                </a:solidFill>
                <a:latin typeface="Montserrat Classic"/>
              </a:rPr>
              <a:t> </a:t>
            </a:r>
            <a:r>
              <a:rPr lang="en-US" sz="3099">
                <a:solidFill>
                  <a:srgbClr val="004AAD"/>
                </a:solidFill>
                <a:latin typeface="Montserrat Classic Bold"/>
              </a:rPr>
              <a:t>EDUGAMES</a:t>
            </a:r>
            <a:r>
              <a:rPr lang="en-US" sz="3099">
                <a:solidFill>
                  <a:srgbClr val="004AAD"/>
                </a:solidFill>
                <a:latin typeface="Montserrat Classic"/>
              </a:rPr>
              <a:t> </a:t>
            </a:r>
            <a:r>
              <a:rPr lang="en-US" sz="3099">
                <a:solidFill>
                  <a:srgbClr val="000000"/>
                </a:solidFill>
                <a:latin typeface="Montserrat Classic"/>
              </a:rPr>
              <a:t>è offrire un supporto semplice e intuitivo ai bambini, consentendo loro di imparare attraverso il gioco e l'interazione con un ambiente diverso da quello scolastico.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-6284008">
            <a:off x="12914083" y="7299582"/>
            <a:ext cx="4789367" cy="7690070"/>
          </a:xfrm>
          <a:custGeom>
            <a:avLst/>
            <a:gdLst/>
            <a:ahLst/>
            <a:cxnLst/>
            <a:rect r="r" b="b" t="t" l="l"/>
            <a:pathLst>
              <a:path h="7690070" w="4789367">
                <a:moveTo>
                  <a:pt x="0" y="0"/>
                </a:moveTo>
                <a:lnTo>
                  <a:pt x="4789367" y="0"/>
                </a:lnTo>
                <a:lnTo>
                  <a:pt x="4789367" y="7690070"/>
                </a:lnTo>
                <a:lnTo>
                  <a:pt x="0" y="769007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9" id="9"/>
          <p:cNvSpPr/>
          <p:nvPr/>
        </p:nvSpPr>
        <p:spPr>
          <a:xfrm flipH="true" flipV="true">
            <a:off x="1009823" y="2069286"/>
            <a:ext cx="18877" cy="1788359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0" id="10"/>
          <p:cNvSpPr/>
          <p:nvPr/>
        </p:nvSpPr>
        <p:spPr>
          <a:xfrm flipH="false" flipV="false" rot="0">
            <a:off x="1047749" y="4606454"/>
            <a:ext cx="6950145" cy="4651846"/>
          </a:xfrm>
          <a:custGeom>
            <a:avLst/>
            <a:gdLst/>
            <a:ahLst/>
            <a:cxnLst/>
            <a:rect r="r" b="b" t="t" l="l"/>
            <a:pathLst>
              <a:path h="4651846" w="6950145">
                <a:moveTo>
                  <a:pt x="0" y="0"/>
                </a:moveTo>
                <a:lnTo>
                  <a:pt x="6950145" y="0"/>
                </a:lnTo>
                <a:lnTo>
                  <a:pt x="6950145" y="4651846"/>
                </a:lnTo>
                <a:lnTo>
                  <a:pt x="0" y="465184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930669">
            <a:off x="-7971294" y="-10725049"/>
            <a:ext cx="18539921" cy="18539921"/>
          </a:xfrm>
          <a:custGeom>
            <a:avLst/>
            <a:gdLst/>
            <a:ahLst/>
            <a:cxnLst/>
            <a:rect r="r" b="b" t="t" l="l"/>
            <a:pathLst>
              <a:path h="18539921" w="18539921">
                <a:moveTo>
                  <a:pt x="0" y="0"/>
                </a:moveTo>
                <a:lnTo>
                  <a:pt x="18539921" y="0"/>
                </a:lnTo>
                <a:lnTo>
                  <a:pt x="18539921" y="18539921"/>
                </a:lnTo>
                <a:lnTo>
                  <a:pt x="0" y="185399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5242519">
            <a:off x="-1664157" y="8987976"/>
            <a:ext cx="8063091" cy="6553094"/>
          </a:xfrm>
          <a:custGeom>
            <a:avLst/>
            <a:gdLst/>
            <a:ahLst/>
            <a:cxnLst/>
            <a:rect r="r" b="b" t="t" l="l"/>
            <a:pathLst>
              <a:path h="6553094" w="8063091">
                <a:moveTo>
                  <a:pt x="8063091" y="0"/>
                </a:moveTo>
                <a:lnTo>
                  <a:pt x="0" y="0"/>
                </a:lnTo>
                <a:lnTo>
                  <a:pt x="0" y="6553094"/>
                </a:lnTo>
                <a:lnTo>
                  <a:pt x="8063091" y="6553094"/>
                </a:lnTo>
                <a:lnTo>
                  <a:pt x="8063091" y="0"/>
                </a:lnTo>
                <a:close/>
              </a:path>
            </a:pathLst>
          </a:custGeom>
          <a:blipFill>
            <a:blip r:embed="rId4">
              <a:alphaModFix amt="5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4892946" y="2508585"/>
            <a:ext cx="1155546" cy="1099856"/>
            <a:chOff x="0" y="0"/>
            <a:chExt cx="1147325" cy="109203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30083" y="0"/>
              <a:ext cx="1087158" cy="1092031"/>
            </a:xfrm>
            <a:custGeom>
              <a:avLst/>
              <a:gdLst/>
              <a:ahLst/>
              <a:cxnLst/>
              <a:rect r="r" b="b" t="t" l="l"/>
              <a:pathLst>
                <a:path h="1092031" w="1087158">
                  <a:moveTo>
                    <a:pt x="543579" y="0"/>
                  </a:moveTo>
                  <a:cubicBezTo>
                    <a:pt x="844182" y="1344"/>
                    <a:pt x="1087158" y="245410"/>
                    <a:pt x="1087158" y="546016"/>
                  </a:cubicBezTo>
                  <a:cubicBezTo>
                    <a:pt x="1087158" y="846621"/>
                    <a:pt x="844182" y="1090687"/>
                    <a:pt x="543579" y="1092031"/>
                  </a:cubicBezTo>
                  <a:cubicBezTo>
                    <a:pt x="242977" y="1090687"/>
                    <a:pt x="0" y="846621"/>
                    <a:pt x="0" y="546016"/>
                  </a:cubicBezTo>
                  <a:cubicBezTo>
                    <a:pt x="0" y="245410"/>
                    <a:pt x="242977" y="1344"/>
                    <a:pt x="543579" y="0"/>
                  </a:cubicBezTo>
                  <a:close/>
                </a:path>
              </a:pathLst>
            </a:custGeom>
            <a:solidFill>
              <a:srgbClr val="5CE1E6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600"/>
                </a:lnSpc>
              </a:pPr>
              <a:r>
                <a:rPr lang="en-US" sz="4000" spc="200">
                  <a:solidFill>
                    <a:srgbClr val="FFFFFF"/>
                  </a:solidFill>
                  <a:latin typeface="Noto Serif"/>
                </a:rPr>
                <a:t>1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028700" y="5667799"/>
            <a:ext cx="13052761" cy="1028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4199"/>
              </a:lnSpc>
            </a:pPr>
            <a:r>
              <a:rPr lang="en-US" sz="2999">
                <a:solidFill>
                  <a:srgbClr val="2E2E2E"/>
                </a:solidFill>
                <a:latin typeface="Montserrat Classic Bold"/>
              </a:rPr>
              <a:t>SVILUPPO DI QUIZ DI DIFFERENTE LIVELLO E DI UN CALENDARIO CHE PERMETTA DI VISUALIZZARE I PROGRESSI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4315174" y="4084691"/>
            <a:ext cx="1155546" cy="1099856"/>
            <a:chOff x="0" y="0"/>
            <a:chExt cx="1147325" cy="109203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30083" y="0"/>
              <a:ext cx="1087158" cy="1092031"/>
            </a:xfrm>
            <a:custGeom>
              <a:avLst/>
              <a:gdLst/>
              <a:ahLst/>
              <a:cxnLst/>
              <a:rect r="r" b="b" t="t" l="l"/>
              <a:pathLst>
                <a:path h="1092031" w="1087158">
                  <a:moveTo>
                    <a:pt x="543579" y="0"/>
                  </a:moveTo>
                  <a:cubicBezTo>
                    <a:pt x="844182" y="1344"/>
                    <a:pt x="1087158" y="245410"/>
                    <a:pt x="1087158" y="546016"/>
                  </a:cubicBezTo>
                  <a:cubicBezTo>
                    <a:pt x="1087158" y="846621"/>
                    <a:pt x="844182" y="1090687"/>
                    <a:pt x="543579" y="1092031"/>
                  </a:cubicBezTo>
                  <a:cubicBezTo>
                    <a:pt x="242977" y="1090687"/>
                    <a:pt x="0" y="846621"/>
                    <a:pt x="0" y="546016"/>
                  </a:cubicBezTo>
                  <a:cubicBezTo>
                    <a:pt x="0" y="245410"/>
                    <a:pt x="242977" y="1344"/>
                    <a:pt x="543579" y="0"/>
                  </a:cubicBezTo>
                  <a:close/>
                </a:path>
              </a:pathLst>
            </a:custGeom>
            <a:solidFill>
              <a:srgbClr val="5CE1E6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600"/>
                </a:lnSpc>
              </a:pPr>
              <a:r>
                <a:rPr lang="en-US" sz="4000" spc="200">
                  <a:solidFill>
                    <a:srgbClr val="FFFFFF"/>
                  </a:solidFill>
                  <a:latin typeface="Noto Serif"/>
                </a:rPr>
                <a:t>2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3737401" y="5660796"/>
            <a:ext cx="1155546" cy="1099856"/>
            <a:chOff x="0" y="0"/>
            <a:chExt cx="1147325" cy="109203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30083" y="0"/>
              <a:ext cx="1087158" cy="1092031"/>
            </a:xfrm>
            <a:custGeom>
              <a:avLst/>
              <a:gdLst/>
              <a:ahLst/>
              <a:cxnLst/>
              <a:rect r="r" b="b" t="t" l="l"/>
              <a:pathLst>
                <a:path h="1092031" w="1087158">
                  <a:moveTo>
                    <a:pt x="543579" y="0"/>
                  </a:moveTo>
                  <a:cubicBezTo>
                    <a:pt x="844182" y="1344"/>
                    <a:pt x="1087158" y="245410"/>
                    <a:pt x="1087158" y="546016"/>
                  </a:cubicBezTo>
                  <a:cubicBezTo>
                    <a:pt x="1087158" y="846621"/>
                    <a:pt x="844182" y="1090687"/>
                    <a:pt x="543579" y="1092031"/>
                  </a:cubicBezTo>
                  <a:cubicBezTo>
                    <a:pt x="242977" y="1090687"/>
                    <a:pt x="0" y="846621"/>
                    <a:pt x="0" y="546016"/>
                  </a:cubicBezTo>
                  <a:cubicBezTo>
                    <a:pt x="0" y="245410"/>
                    <a:pt x="242977" y="1344"/>
                    <a:pt x="543579" y="0"/>
                  </a:cubicBezTo>
                  <a:close/>
                </a:path>
              </a:pathLst>
            </a:custGeom>
            <a:solidFill>
              <a:srgbClr val="5CE1E6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600"/>
                </a:lnSpc>
              </a:pPr>
              <a:r>
                <a:rPr lang="en-US" sz="4000" spc="200">
                  <a:solidFill>
                    <a:srgbClr val="FFFFFF"/>
                  </a:solidFill>
                  <a:latin typeface="Noto Serif"/>
                </a:rPr>
                <a:t>3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3159628" y="7211145"/>
            <a:ext cx="1155546" cy="1099856"/>
            <a:chOff x="0" y="0"/>
            <a:chExt cx="1147325" cy="109203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30083" y="0"/>
              <a:ext cx="1087158" cy="1092031"/>
            </a:xfrm>
            <a:custGeom>
              <a:avLst/>
              <a:gdLst/>
              <a:ahLst/>
              <a:cxnLst/>
              <a:rect r="r" b="b" t="t" l="l"/>
              <a:pathLst>
                <a:path h="1092031" w="1087158">
                  <a:moveTo>
                    <a:pt x="543579" y="0"/>
                  </a:moveTo>
                  <a:cubicBezTo>
                    <a:pt x="844182" y="1344"/>
                    <a:pt x="1087158" y="245410"/>
                    <a:pt x="1087158" y="546016"/>
                  </a:cubicBezTo>
                  <a:cubicBezTo>
                    <a:pt x="1087158" y="846621"/>
                    <a:pt x="844182" y="1090687"/>
                    <a:pt x="543579" y="1092031"/>
                  </a:cubicBezTo>
                  <a:cubicBezTo>
                    <a:pt x="242977" y="1090687"/>
                    <a:pt x="0" y="846621"/>
                    <a:pt x="0" y="546016"/>
                  </a:cubicBezTo>
                  <a:cubicBezTo>
                    <a:pt x="0" y="245410"/>
                    <a:pt x="242977" y="1344"/>
                    <a:pt x="543579" y="0"/>
                  </a:cubicBezTo>
                  <a:close/>
                </a:path>
              </a:pathLst>
            </a:custGeom>
            <a:solidFill>
              <a:srgbClr val="5CE1E6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600"/>
                </a:lnSpc>
              </a:pPr>
              <a:r>
                <a:rPr lang="en-US" sz="4000" spc="200">
                  <a:solidFill>
                    <a:srgbClr val="FFFFFF"/>
                  </a:solidFill>
                  <a:latin typeface="Noto Serif"/>
                </a:rPr>
                <a:t>4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2581855" y="8708372"/>
            <a:ext cx="1155546" cy="1099856"/>
            <a:chOff x="0" y="0"/>
            <a:chExt cx="1147325" cy="109203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30083" y="0"/>
              <a:ext cx="1087158" cy="1092031"/>
            </a:xfrm>
            <a:custGeom>
              <a:avLst/>
              <a:gdLst/>
              <a:ahLst/>
              <a:cxnLst/>
              <a:rect r="r" b="b" t="t" l="l"/>
              <a:pathLst>
                <a:path h="1092031" w="1087158">
                  <a:moveTo>
                    <a:pt x="543579" y="0"/>
                  </a:moveTo>
                  <a:cubicBezTo>
                    <a:pt x="844182" y="1344"/>
                    <a:pt x="1087158" y="245410"/>
                    <a:pt x="1087158" y="546016"/>
                  </a:cubicBezTo>
                  <a:cubicBezTo>
                    <a:pt x="1087158" y="846621"/>
                    <a:pt x="844182" y="1090687"/>
                    <a:pt x="543579" y="1092031"/>
                  </a:cubicBezTo>
                  <a:cubicBezTo>
                    <a:pt x="242977" y="1090687"/>
                    <a:pt x="0" y="846621"/>
                    <a:pt x="0" y="546016"/>
                  </a:cubicBezTo>
                  <a:cubicBezTo>
                    <a:pt x="0" y="245410"/>
                    <a:pt x="242977" y="1344"/>
                    <a:pt x="543579" y="0"/>
                  </a:cubicBezTo>
                  <a:close/>
                </a:path>
              </a:pathLst>
            </a:custGeom>
            <a:solidFill>
              <a:srgbClr val="5CE1E6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600"/>
                </a:lnSpc>
              </a:pPr>
              <a:r>
                <a:rPr lang="en-US" sz="4000" spc="200">
                  <a:solidFill>
                    <a:srgbClr val="FFFFFF"/>
                  </a:solidFill>
                  <a:latin typeface="Noto Serif"/>
                </a:rPr>
                <a:t>5</a:t>
              </a: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16027772" y="4018855"/>
            <a:ext cx="1231528" cy="1231528"/>
          </a:xfrm>
          <a:custGeom>
            <a:avLst/>
            <a:gdLst/>
            <a:ahLst/>
            <a:cxnLst/>
            <a:rect r="r" b="b" t="t" l="l"/>
            <a:pathLst>
              <a:path h="1231528" w="1231528">
                <a:moveTo>
                  <a:pt x="0" y="0"/>
                </a:moveTo>
                <a:lnTo>
                  <a:pt x="1231528" y="0"/>
                </a:lnTo>
                <a:lnTo>
                  <a:pt x="1231528" y="1231527"/>
                </a:lnTo>
                <a:lnTo>
                  <a:pt x="0" y="123152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6409566" y="2508585"/>
            <a:ext cx="1255022" cy="926242"/>
          </a:xfrm>
          <a:custGeom>
            <a:avLst/>
            <a:gdLst/>
            <a:ahLst/>
            <a:cxnLst/>
            <a:rect r="r" b="b" t="t" l="l"/>
            <a:pathLst>
              <a:path h="926242" w="1255022">
                <a:moveTo>
                  <a:pt x="0" y="0"/>
                </a:moveTo>
                <a:lnTo>
                  <a:pt x="1255023" y="0"/>
                </a:lnTo>
                <a:lnTo>
                  <a:pt x="1255023" y="926242"/>
                </a:lnTo>
                <a:lnTo>
                  <a:pt x="0" y="92624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5470719" y="5500898"/>
            <a:ext cx="1419652" cy="1419652"/>
          </a:xfrm>
          <a:custGeom>
            <a:avLst/>
            <a:gdLst/>
            <a:ahLst/>
            <a:cxnLst/>
            <a:rect r="r" b="b" t="t" l="l"/>
            <a:pathLst>
              <a:path h="1419652" w="1419652">
                <a:moveTo>
                  <a:pt x="0" y="0"/>
                </a:moveTo>
                <a:lnTo>
                  <a:pt x="1419652" y="0"/>
                </a:lnTo>
                <a:lnTo>
                  <a:pt x="1419652" y="1419652"/>
                </a:lnTo>
                <a:lnTo>
                  <a:pt x="0" y="141965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4814093" y="6963336"/>
            <a:ext cx="1595474" cy="1595474"/>
          </a:xfrm>
          <a:custGeom>
            <a:avLst/>
            <a:gdLst/>
            <a:ahLst/>
            <a:cxnLst/>
            <a:rect r="r" b="b" t="t" l="l"/>
            <a:pathLst>
              <a:path h="1595474" w="1595474">
                <a:moveTo>
                  <a:pt x="0" y="0"/>
                </a:moveTo>
                <a:lnTo>
                  <a:pt x="1595473" y="0"/>
                </a:lnTo>
                <a:lnTo>
                  <a:pt x="1595473" y="1595474"/>
                </a:lnTo>
                <a:lnTo>
                  <a:pt x="0" y="159547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4362412" y="8633591"/>
            <a:ext cx="1174637" cy="1174637"/>
          </a:xfrm>
          <a:custGeom>
            <a:avLst/>
            <a:gdLst/>
            <a:ahLst/>
            <a:cxnLst/>
            <a:rect r="r" b="b" t="t" l="l"/>
            <a:pathLst>
              <a:path h="1174637" w="1174637">
                <a:moveTo>
                  <a:pt x="0" y="0"/>
                </a:moveTo>
                <a:lnTo>
                  <a:pt x="1174636" y="0"/>
                </a:lnTo>
                <a:lnTo>
                  <a:pt x="1174636" y="1174637"/>
                </a:lnTo>
                <a:lnTo>
                  <a:pt x="0" y="117463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1028700" y="1085850"/>
            <a:ext cx="14208307" cy="948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3600"/>
              </a:lnSpc>
            </a:pPr>
            <a:r>
              <a:rPr lang="en-US" sz="3600">
                <a:solidFill>
                  <a:srgbClr val="004AAD"/>
                </a:solidFill>
                <a:latin typeface="Montserrat Classic Bold"/>
              </a:rPr>
              <a:t>CONTRIBUTO PERSONALE DEL CANDIDATO </a:t>
            </a:r>
          </a:p>
          <a:p>
            <a:pPr>
              <a:lnSpc>
                <a:spcPts val="3600"/>
              </a:lnSpc>
            </a:pPr>
            <a:r>
              <a:rPr lang="en-US" sz="3600">
                <a:solidFill>
                  <a:srgbClr val="004AAD"/>
                </a:solidFill>
                <a:latin typeface="Montserrat Classic Bold"/>
              </a:rPr>
              <a:t>ALLA SOLUZIONE DEL PROBLEMA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2191025" y="2778628"/>
            <a:ext cx="13045982" cy="5048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4199"/>
              </a:lnSpc>
            </a:pPr>
            <a:r>
              <a:rPr lang="en-US" sz="2999">
                <a:solidFill>
                  <a:srgbClr val="2E2E2E"/>
                </a:solidFill>
                <a:latin typeface="Montserrat Classic Bold"/>
              </a:rPr>
              <a:t>PROGETTAZIONE DELL'INTERFACCIA GRAFICA TRAMITE SKETCH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3919385" y="4353631"/>
            <a:ext cx="11910560" cy="5048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4199"/>
              </a:lnSpc>
            </a:pPr>
            <a:r>
              <a:rPr lang="en-US" sz="2999">
                <a:solidFill>
                  <a:srgbClr val="2E2E2E"/>
                </a:solidFill>
                <a:latin typeface="Montserrat Classic Bold"/>
              </a:rPr>
              <a:t>SVILUPPO DELL'INTERFACCIA GRAFICA IN SWIFT UI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684640" y="7415009"/>
            <a:ext cx="13052761" cy="5048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4199"/>
              </a:lnSpc>
            </a:pPr>
            <a:r>
              <a:rPr lang="en-US" sz="2999">
                <a:solidFill>
                  <a:srgbClr val="2E2E2E"/>
                </a:solidFill>
                <a:latin typeface="Montserrat Classic Bold"/>
              </a:rPr>
              <a:t>CREAZIONE DI UN MINIGIOCO CHE FAVORISCA L'INTERAZIONE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3248954" y="8986634"/>
            <a:ext cx="9118611" cy="5048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4199"/>
              </a:lnSpc>
            </a:pPr>
            <a:r>
              <a:rPr lang="en-US" sz="2999">
                <a:solidFill>
                  <a:srgbClr val="2E2E2E"/>
                </a:solidFill>
                <a:latin typeface="Montserrat Classic Bold"/>
              </a:rPr>
              <a:t>CREAZIONE DEL LOGO TRAMITE PHOTOSHOP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3525861">
            <a:off x="8777887" y="-2612009"/>
            <a:ext cx="13709384" cy="13709384"/>
          </a:xfrm>
          <a:custGeom>
            <a:avLst/>
            <a:gdLst/>
            <a:ahLst/>
            <a:cxnLst/>
            <a:rect r="r" b="b" t="t" l="l"/>
            <a:pathLst>
              <a:path h="13709384" w="13709384">
                <a:moveTo>
                  <a:pt x="0" y="0"/>
                </a:moveTo>
                <a:lnTo>
                  <a:pt x="13709384" y="0"/>
                </a:lnTo>
                <a:lnTo>
                  <a:pt x="13709384" y="13709384"/>
                </a:lnTo>
                <a:lnTo>
                  <a:pt x="0" y="137093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0338079" y="2391679"/>
            <a:ext cx="1475610" cy="665240"/>
          </a:xfrm>
          <a:custGeom>
            <a:avLst/>
            <a:gdLst/>
            <a:ahLst/>
            <a:cxnLst/>
            <a:rect r="r" b="b" t="t" l="l"/>
            <a:pathLst>
              <a:path h="665240" w="1475610">
                <a:moveTo>
                  <a:pt x="1475609" y="0"/>
                </a:moveTo>
                <a:lnTo>
                  <a:pt x="0" y="0"/>
                </a:lnTo>
                <a:lnTo>
                  <a:pt x="0" y="665240"/>
                </a:lnTo>
                <a:lnTo>
                  <a:pt x="1475609" y="665240"/>
                </a:lnTo>
                <a:lnTo>
                  <a:pt x="1475609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0338079" y="4120486"/>
            <a:ext cx="1475610" cy="665240"/>
          </a:xfrm>
          <a:custGeom>
            <a:avLst/>
            <a:gdLst/>
            <a:ahLst/>
            <a:cxnLst/>
            <a:rect r="r" b="b" t="t" l="l"/>
            <a:pathLst>
              <a:path h="665240" w="1475610">
                <a:moveTo>
                  <a:pt x="1475609" y="0"/>
                </a:moveTo>
                <a:lnTo>
                  <a:pt x="0" y="0"/>
                </a:lnTo>
                <a:lnTo>
                  <a:pt x="0" y="665240"/>
                </a:lnTo>
                <a:lnTo>
                  <a:pt x="1475609" y="665240"/>
                </a:lnTo>
                <a:lnTo>
                  <a:pt x="1475609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0338079" y="6107401"/>
            <a:ext cx="1475610" cy="665240"/>
          </a:xfrm>
          <a:custGeom>
            <a:avLst/>
            <a:gdLst/>
            <a:ahLst/>
            <a:cxnLst/>
            <a:rect r="r" b="b" t="t" l="l"/>
            <a:pathLst>
              <a:path h="665240" w="1475610">
                <a:moveTo>
                  <a:pt x="1475609" y="0"/>
                </a:moveTo>
                <a:lnTo>
                  <a:pt x="0" y="0"/>
                </a:lnTo>
                <a:lnTo>
                  <a:pt x="0" y="665240"/>
                </a:lnTo>
                <a:lnTo>
                  <a:pt x="1475609" y="665240"/>
                </a:lnTo>
                <a:lnTo>
                  <a:pt x="1475609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8532740">
            <a:off x="-2703495" y="7048838"/>
            <a:ext cx="6729406" cy="5469172"/>
          </a:xfrm>
          <a:custGeom>
            <a:avLst/>
            <a:gdLst/>
            <a:ahLst/>
            <a:cxnLst/>
            <a:rect r="r" b="b" t="t" l="l"/>
            <a:pathLst>
              <a:path h="5469172" w="6729406">
                <a:moveTo>
                  <a:pt x="6729406" y="0"/>
                </a:moveTo>
                <a:lnTo>
                  <a:pt x="0" y="0"/>
                </a:lnTo>
                <a:lnTo>
                  <a:pt x="0" y="5469172"/>
                </a:lnTo>
                <a:lnTo>
                  <a:pt x="6729406" y="5469172"/>
                </a:lnTo>
                <a:lnTo>
                  <a:pt x="6729406" y="0"/>
                </a:lnTo>
                <a:close/>
              </a:path>
            </a:pathLst>
          </a:custGeom>
          <a:blipFill>
            <a:blip r:embed="rId6">
              <a:alphaModFix amt="50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3338353" y="3094991"/>
            <a:ext cx="3315034" cy="5361170"/>
          </a:xfrm>
          <a:custGeom>
            <a:avLst/>
            <a:gdLst/>
            <a:ahLst/>
            <a:cxnLst/>
            <a:rect r="r" b="b" t="t" l="l"/>
            <a:pathLst>
              <a:path h="5361170" w="3315034">
                <a:moveTo>
                  <a:pt x="0" y="0"/>
                </a:moveTo>
                <a:lnTo>
                  <a:pt x="3315035" y="0"/>
                </a:lnTo>
                <a:lnTo>
                  <a:pt x="3315035" y="5361171"/>
                </a:lnTo>
                <a:lnTo>
                  <a:pt x="0" y="536117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580126" y="3056919"/>
            <a:ext cx="3376953" cy="5437315"/>
          </a:xfrm>
          <a:custGeom>
            <a:avLst/>
            <a:gdLst/>
            <a:ahLst/>
            <a:cxnLst/>
            <a:rect r="r" b="b" t="t" l="l"/>
            <a:pathLst>
              <a:path h="5437315" w="3376953">
                <a:moveTo>
                  <a:pt x="0" y="0"/>
                </a:moveTo>
                <a:lnTo>
                  <a:pt x="3376953" y="0"/>
                </a:lnTo>
                <a:lnTo>
                  <a:pt x="3376953" y="5437315"/>
                </a:lnTo>
                <a:lnTo>
                  <a:pt x="0" y="543731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250248" y="3094991"/>
            <a:ext cx="3337025" cy="5361170"/>
          </a:xfrm>
          <a:custGeom>
            <a:avLst/>
            <a:gdLst/>
            <a:ahLst/>
            <a:cxnLst/>
            <a:rect r="r" b="b" t="t" l="l"/>
            <a:pathLst>
              <a:path h="5361170" w="3337025">
                <a:moveTo>
                  <a:pt x="0" y="0"/>
                </a:moveTo>
                <a:lnTo>
                  <a:pt x="3337024" y="0"/>
                </a:lnTo>
                <a:lnTo>
                  <a:pt x="3337024" y="5361171"/>
                </a:lnTo>
                <a:lnTo>
                  <a:pt x="0" y="5361171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0405952" y="2497678"/>
            <a:ext cx="1339863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399">
                <a:solidFill>
                  <a:srgbClr val="2E2E2E"/>
                </a:solidFill>
                <a:latin typeface="Montserrat Classic Bold"/>
              </a:rPr>
              <a:t>1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061338" y="2296429"/>
            <a:ext cx="6340410" cy="1010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4159"/>
              </a:lnSpc>
            </a:pPr>
            <a:r>
              <a:rPr lang="en-US" sz="2599">
                <a:solidFill>
                  <a:srgbClr val="004AAD"/>
                </a:solidFill>
                <a:latin typeface="Montserrat Classic Bold"/>
              </a:rPr>
              <a:t>Quiz</a:t>
            </a:r>
            <a:r>
              <a:rPr lang="en-US" sz="2599">
                <a:solidFill>
                  <a:srgbClr val="2E2E2E"/>
                </a:solidFill>
                <a:latin typeface="Montserrat Classic"/>
              </a:rPr>
              <a:t>: Gestione di quiz di difficoltà variabile con un punteggio associato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338079" y="4195058"/>
            <a:ext cx="1339863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399">
                <a:solidFill>
                  <a:srgbClr val="2E2E2E"/>
                </a:solidFill>
                <a:latin typeface="Montserrat Classic Bold"/>
              </a:rPr>
              <a:t>2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061338" y="3783950"/>
            <a:ext cx="5366628" cy="2058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4159"/>
              </a:lnSpc>
            </a:pPr>
            <a:r>
              <a:rPr lang="en-US" sz="2599">
                <a:solidFill>
                  <a:srgbClr val="004AAD"/>
                </a:solidFill>
                <a:latin typeface="Montserrat Classic Bold"/>
              </a:rPr>
              <a:t>RexyGame </a:t>
            </a:r>
            <a:r>
              <a:rPr lang="en-US" sz="2599">
                <a:solidFill>
                  <a:srgbClr val="2E2E2E"/>
                </a:solidFill>
                <a:latin typeface="Montserrat Classic"/>
              </a:rPr>
              <a:t>Costruzione grafica e sviluppo della parte back-end e </a:t>
            </a:r>
          </a:p>
          <a:p>
            <a:pPr>
              <a:lnSpc>
                <a:spcPts val="4160"/>
              </a:lnSpc>
            </a:pPr>
            <a:r>
              <a:rPr lang="en-US" sz="2600">
                <a:solidFill>
                  <a:srgbClr val="2E2E2E"/>
                </a:solidFill>
                <a:latin typeface="Montserrat Classic"/>
              </a:rPr>
              <a:t>front-end in modo da favorire lo sviluppo di interazioni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405952" y="6213326"/>
            <a:ext cx="1339863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399">
                <a:solidFill>
                  <a:srgbClr val="2E2E2E"/>
                </a:solidFill>
                <a:latin typeface="Montserrat Classic Bold"/>
              </a:rPr>
              <a:t>3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061338" y="6165701"/>
            <a:ext cx="5961717" cy="2058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4159"/>
              </a:lnSpc>
            </a:pPr>
            <a:r>
              <a:rPr lang="en-US" sz="2599">
                <a:solidFill>
                  <a:srgbClr val="004AAD"/>
                </a:solidFill>
                <a:latin typeface="Montserrat Classic Bold"/>
              </a:rPr>
              <a:t>Calendario e Punteggio: </a:t>
            </a:r>
            <a:r>
              <a:rPr lang="en-US" sz="2599">
                <a:solidFill>
                  <a:srgbClr val="000000"/>
                </a:solidFill>
                <a:latin typeface="Montserrat Classic"/>
              </a:rPr>
              <a:t>Gestione del punteggio giornaliero ottenuto dai quiz visualizzabile giorno per giorno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28700" y="1085850"/>
            <a:ext cx="15090146" cy="1405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3600"/>
              </a:lnSpc>
            </a:pPr>
            <a:r>
              <a:rPr lang="en-US" sz="3600">
                <a:solidFill>
                  <a:srgbClr val="004AAD"/>
                </a:solidFill>
                <a:latin typeface="Montserrat Classic Bold"/>
              </a:rPr>
              <a:t>DESCRIZIONE DEI CONTRIBUTI APPLICATIVI/SPERIMENTALI DELL'ELABORATO</a:t>
            </a:r>
          </a:p>
          <a:p>
            <a:pPr>
              <a:lnSpc>
                <a:spcPts val="3600"/>
              </a:lnSpc>
            </a:pPr>
          </a:p>
        </p:txBody>
      </p:sp>
      <p:sp>
        <p:nvSpPr>
          <p:cNvPr name="Freeform 17" id="17"/>
          <p:cNvSpPr/>
          <p:nvPr/>
        </p:nvSpPr>
        <p:spPr>
          <a:xfrm flipH="true" flipV="false" rot="0">
            <a:off x="10338079" y="8643471"/>
            <a:ext cx="1475610" cy="665240"/>
          </a:xfrm>
          <a:custGeom>
            <a:avLst/>
            <a:gdLst/>
            <a:ahLst/>
            <a:cxnLst/>
            <a:rect r="r" b="b" t="t" l="l"/>
            <a:pathLst>
              <a:path h="665240" w="1475610">
                <a:moveTo>
                  <a:pt x="1475609" y="0"/>
                </a:moveTo>
                <a:lnTo>
                  <a:pt x="0" y="0"/>
                </a:lnTo>
                <a:lnTo>
                  <a:pt x="0" y="665241"/>
                </a:lnTo>
                <a:lnTo>
                  <a:pt x="1475609" y="665241"/>
                </a:lnTo>
                <a:lnTo>
                  <a:pt x="1475609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0405952" y="8749396"/>
            <a:ext cx="1339863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399">
                <a:solidFill>
                  <a:srgbClr val="2E2E2E"/>
                </a:solidFill>
                <a:latin typeface="Montserrat Classic Bold"/>
              </a:rPr>
              <a:t>4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061338" y="8548221"/>
            <a:ext cx="5961717" cy="1010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4159"/>
              </a:lnSpc>
            </a:pPr>
            <a:r>
              <a:rPr lang="en-US" sz="2599">
                <a:solidFill>
                  <a:srgbClr val="004AAD"/>
                </a:solidFill>
                <a:latin typeface="Montserrat Classic Bold"/>
              </a:rPr>
              <a:t>Progettazione UX ed icona: </a:t>
            </a:r>
            <a:r>
              <a:rPr lang="en-US" sz="2599">
                <a:solidFill>
                  <a:srgbClr val="000000"/>
                </a:solidFill>
                <a:latin typeface="Montserrat Classic"/>
              </a:rPr>
              <a:t>Personalizzazione dell'applicazione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12304" y="3876865"/>
            <a:ext cx="13127783" cy="2733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10539"/>
              </a:lnSpc>
            </a:pPr>
            <a:r>
              <a:rPr lang="en-US" sz="10539" spc="-358">
                <a:solidFill>
                  <a:srgbClr val="004AAD"/>
                </a:solidFill>
                <a:latin typeface="Montserrat Classic Bold"/>
              </a:rPr>
              <a:t>GRAZIE PER L'ATTENZIONE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-1766807">
            <a:off x="-3603746" y="2341404"/>
            <a:ext cx="12112141" cy="9843868"/>
          </a:xfrm>
          <a:custGeom>
            <a:avLst/>
            <a:gdLst/>
            <a:ahLst/>
            <a:cxnLst/>
            <a:rect r="r" b="b" t="t" l="l"/>
            <a:pathLst>
              <a:path h="9843868" w="12112141">
                <a:moveTo>
                  <a:pt x="0" y="0"/>
                </a:moveTo>
                <a:lnTo>
                  <a:pt x="12112141" y="0"/>
                </a:lnTo>
                <a:lnTo>
                  <a:pt x="12112141" y="9843868"/>
                </a:lnTo>
                <a:lnTo>
                  <a:pt x="0" y="98438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876893" y="1802699"/>
            <a:ext cx="6681602" cy="6681602"/>
          </a:xfrm>
          <a:custGeom>
            <a:avLst/>
            <a:gdLst/>
            <a:ahLst/>
            <a:cxnLst/>
            <a:rect r="r" b="b" t="t" l="l"/>
            <a:pathLst>
              <a:path h="6681602" w="6681602">
                <a:moveTo>
                  <a:pt x="0" y="0"/>
                </a:moveTo>
                <a:lnTo>
                  <a:pt x="6681602" y="0"/>
                </a:lnTo>
                <a:lnTo>
                  <a:pt x="6681602" y="6681602"/>
                </a:lnTo>
                <a:lnTo>
                  <a:pt x="0" y="668160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DAFpEkhTfHQ</dc:identifier>
  <dcterms:modified xsi:type="dcterms:W3CDTF">2011-08-01T06:04:30Z</dcterms:modified>
  <cp:revision>1</cp:revision>
  <dc:title>Modern and Minimal Company Profile Presentation</dc:title>
</cp:coreProperties>
</file>